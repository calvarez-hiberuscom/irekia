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34276-3E78-0269-1E05-944FE812F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704BA2-07C9-4533-C6D5-13A8090CE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7CDE24-5641-1521-9CB1-3D544C86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350517-3C61-55AC-F63F-C801844B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6EF29D-5357-D2A3-2AA0-28A2A575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340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4FF78-3862-4E7B-0E6D-3DC35877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D99E6D-BE17-9800-0EDC-B64E4BFE6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86B1B3-9196-8B95-5220-F5ABDE67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3D38D1-FE26-D7C4-E518-B5DD17B0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E19FB4-19C5-114A-6236-B774CA5B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54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48A68-0EE6-B4CA-22B1-8A95F59E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A9B38D-68E9-53D2-19C8-0680437E7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E3169F-6B36-49C4-B26E-FC97582A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54B305-55FD-1D68-48F6-46A86405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7D08F2-FBC0-C30F-6630-F706FB42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095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B5BD4-1ACE-0667-D7FA-3F84E24A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56756F-294A-1919-5C77-FFE1779E5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CA9064-3E2D-9B82-338E-AF0EB59EB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3EEAB8-3F79-79FA-FFA2-31706849B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072825-BF07-4493-5C16-483DFB6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7BDD66-F39F-7864-C599-3C937399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14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ABB73-3DCD-C392-19B5-D3FE7027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172669-A444-00C6-F60C-8171785F3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1F65B2-05D0-D3E2-70AC-BCE980130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69D7452-0AAF-24F2-72A2-56DE9EE9B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7D8957-7221-0F26-6FB8-32459B94A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099210D-84C8-EDB4-EA74-62791AAD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AB0B34-16C3-3E62-9AF8-E78928E1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AA0F70-F5C1-C4C5-6DC0-D5F3F67D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448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B353A-8562-D208-8253-F87F5E94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0E60A5-1810-A519-0799-9A9E46789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E71E8D-60F3-3933-34E4-6E3D4E9B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22B9EC-2047-1FE0-7AE4-0F2972F7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6759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8F0081A-6327-EA9A-E3C0-24E89B4A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8FFD1B-6E54-41D0-0E4B-F9981A43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59B648-9C76-0CF8-757D-22EF77A2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34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7E25C-7748-AEB8-81C9-4F78A1283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26D43F-5B04-ACF9-3DE8-49436D3F4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ABEB45-1BC7-7FAE-25B2-791FB671B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188101-2E23-EDBD-BE15-8D62929F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81F661-192A-6884-2FD2-6D2CFC54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814AB4-C7E1-D009-E770-9E7ECAD5A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0510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841B2-E2AB-C3F9-CE31-378D5C838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7D5A9F-4ADE-ED4F-61D5-4D86C2B40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4222F1-5729-F508-2EAB-9CC008387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F53C3C-358B-0F2F-C2CF-96A25A01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9464E7-A4E9-1923-0587-27E81B8E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F7B35A-2689-9453-B7D0-93B8B1D8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56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84B95-80A3-76F1-C1A9-127D5CE8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D97D6A-8798-9AF3-0C12-A18543294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71E65-B34B-1F9E-131B-617A82BB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EC10CF-0237-24EE-2C6D-FEAA1366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92A941-C4A7-F4A8-CFA4-7E902D75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21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27D3DA-93ED-9C51-9CFD-3ADE56D4D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16A527-21BD-8B39-C95B-1AC7A7A10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E259F2-8CE3-8C14-9FB3-3DC8F610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07BE9-C932-D7F9-5D08-6D7BD63C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3EE9FA-0EE1-09F4-B5C2-59CD9997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410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47CDF7-6665-1563-B1C2-C9A0150A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ACF46F-A5E5-F87D-EA4D-3B1D12EE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19E51C-4B55-9672-193C-42A78E595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45786-413F-4EC7-83D9-07F4B70673D3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5A83AF-D072-11A3-A0AF-193E3F256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EAA287-B93E-BE8E-D410-C042DDBEE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76C8E-72D8-4A12-B394-1896EF3A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522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C8E77C7-4B5D-A281-ABEC-6738F3FE633F}"/>
              </a:ext>
            </a:extLst>
          </p:cNvPr>
          <p:cNvSpPr txBox="1"/>
          <p:nvPr/>
        </p:nvSpPr>
        <p:spPr>
          <a:xfrm>
            <a:off x="762000" y="12700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3600" b="1">
                <a:solidFill>
                  <a:srgbClr val="FFFFFF"/>
                </a:solidFill>
              </a:rPr>
              <a:t>Diagramas de Flujo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5487A27-0173-1919-FD04-995AAD5A05D5}"/>
              </a:ext>
            </a:extLst>
          </p:cNvPr>
          <p:cNvSpPr txBox="1"/>
          <p:nvPr/>
        </p:nvSpPr>
        <p:spPr>
          <a:xfrm>
            <a:off x="762000" y="2286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2400">
                <a:solidFill>
                  <a:srgbClr val="AED6F1"/>
                </a:solidFill>
              </a:rPr>
              <a:t>Proyecto Irekia Berria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D0F0658-0E3E-CBBD-DA62-F620CC6C93FD}"/>
              </a:ext>
            </a:extLst>
          </p:cNvPr>
          <p:cNvCxnSpPr/>
          <p:nvPr/>
        </p:nvCxnSpPr>
        <p:spPr>
          <a:xfrm>
            <a:off x="1016000" y="3048000"/>
            <a:ext cx="4064000" cy="0"/>
          </a:xfrm>
          <a:prstGeom prst="line">
            <a:avLst/>
          </a:prstGeom>
          <a:ln w="381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E41A7319-A0B7-F43C-1786-8B66C4617F8A}"/>
              </a:ext>
            </a:extLst>
          </p:cNvPr>
          <p:cNvSpPr txBox="1"/>
          <p:nvPr/>
        </p:nvSpPr>
        <p:spPr>
          <a:xfrm>
            <a:off x="762000" y="3365500"/>
            <a:ext cx="10668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>
                <a:solidFill>
                  <a:srgbClr val="D5DBDB"/>
                </a:solidFill>
              </a:rPr>
              <a:t>1. Transparencia: repositorio actual, Gardena y nuevo Irekia
2. Participacion: Tramitagune y nuevo sistema
3. Prensa y Noticias: sistema de gestion, CMS, DAM y publicacion
4. Diaspora: gestion y portales de sedes en el extranjero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FF9834-80D0-4631-32BE-FA4AE2175EDB}"/>
              </a:ext>
            </a:extLst>
          </p:cNvPr>
          <p:cNvSpPr txBox="1"/>
          <p:nvPr/>
        </p:nvSpPr>
        <p:spPr>
          <a:xfrm>
            <a:off x="762000" y="5842000"/>
            <a:ext cx="508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>
                <a:solidFill>
                  <a:srgbClr val="96A0AA"/>
                </a:solidFill>
              </a:rPr>
              <a:t>Fecha: 12 de marzo de 2026</a:t>
            </a:r>
          </a:p>
        </p:txBody>
      </p:sp>
    </p:spTree>
    <p:extLst>
      <p:ext uri="{BB962C8B-B14F-4D97-AF65-F5344CB8AC3E}">
        <p14:creationId xmlns:p14="http://schemas.microsoft.com/office/powerpoint/2010/main" val="378093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6ED674D-E1ED-170F-7986-644105E20488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0" tIns="127000" rtlCol="0" anchor="ctr"/>
          <a:lstStyle/>
          <a:p>
            <a:r>
              <a:rPr lang="es-ES" sz="2000" b="1">
                <a:solidFill>
                  <a:srgbClr val="FFFFFF"/>
                </a:solidFill>
              </a:rPr>
              <a:t>Diagrama 1 - Transparencia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D142191-4B45-257E-F1F7-68BA7BF0C637}"/>
              </a:ext>
            </a:extLst>
          </p:cNvPr>
          <p:cNvSpPr/>
          <p:nvPr/>
        </p:nvSpPr>
        <p:spPr>
          <a:xfrm>
            <a:off x="4191000" y="1079500"/>
            <a:ext cx="3810000" cy="635000"/>
          </a:xfrm>
          <a:prstGeom prst="roundRect">
            <a:avLst/>
          </a:prstGeom>
          <a:solidFill>
            <a:srgbClr val="FFF9DE"/>
          </a:solidFill>
          <a:ln w="25400">
            <a:solidFill>
              <a:srgbClr val="B79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</a:rPr>
              <a:t>BD / Repositorio de contenido
(actual CMS)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906C184-B2CD-D9EA-8004-5608001D7AC3}"/>
              </a:ext>
            </a:extLst>
          </p:cNvPr>
          <p:cNvSpPr/>
          <p:nvPr/>
        </p:nvSpPr>
        <p:spPr>
          <a:xfrm>
            <a:off x="762000" y="2984500"/>
            <a:ext cx="3175000" cy="63500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>
                <a:solidFill>
                  <a:srgbClr val="000000"/>
                </a:solidFill>
              </a:rPr>
              <a:t>Portal Gardena
(actual - desaparece)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EE7BE4E-F2AC-D658-E2A7-0E7B67B40010}"/>
              </a:ext>
            </a:extLst>
          </p:cNvPr>
          <p:cNvSpPr/>
          <p:nvPr/>
        </p:nvSpPr>
        <p:spPr>
          <a:xfrm>
            <a:off x="7874000" y="2794000"/>
            <a:ext cx="3556000" cy="825500"/>
          </a:xfrm>
          <a:prstGeom prst="roundRect">
            <a:avLst/>
          </a:prstGeom>
          <a:solidFill>
            <a:srgbClr val="FDEBE8"/>
          </a:solidFill>
          <a:ln w="25400">
            <a:solidFill>
              <a:srgbClr val="C0392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</a:rPr>
              <a:t>Sistema de gestion
de Transparencia
(Â¿nuevo o se reutiliza?)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2C9D10F-361D-4E99-C418-6C285112C881}"/>
              </a:ext>
            </a:extLst>
          </p:cNvPr>
          <p:cNvSpPr/>
          <p:nvPr/>
        </p:nvSpPr>
        <p:spPr>
          <a:xfrm>
            <a:off x="7874000" y="5016500"/>
            <a:ext cx="3556000" cy="63500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Irekia Berria
(seccion Transparencia)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A96E102-3C00-6549-2044-7B46BA72A712}"/>
              </a:ext>
            </a:extLst>
          </p:cNvPr>
          <p:cNvCxnSpPr/>
          <p:nvPr/>
        </p:nvCxnSpPr>
        <p:spPr>
          <a:xfrm flipH="1">
            <a:off x="2349500" y="1714500"/>
            <a:ext cx="2857500" cy="12700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6EA0246-AD34-1AD4-6D43-B9321990BF47}"/>
              </a:ext>
            </a:extLst>
          </p:cNvPr>
          <p:cNvCxnSpPr/>
          <p:nvPr/>
        </p:nvCxnSpPr>
        <p:spPr>
          <a:xfrm>
            <a:off x="6985000" y="1714500"/>
            <a:ext cx="2667000" cy="1079500"/>
          </a:xfrm>
          <a:prstGeom prst="straightConnector1">
            <a:avLst/>
          </a:prstGeom>
          <a:ln w="25400">
            <a:solidFill>
              <a:srgbClr val="C0392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FE65608-6CD0-B1CF-EE88-54159BD39764}"/>
              </a:ext>
            </a:extLst>
          </p:cNvPr>
          <p:cNvCxnSpPr/>
          <p:nvPr/>
        </p:nvCxnSpPr>
        <p:spPr>
          <a:xfrm>
            <a:off x="9652000" y="3619500"/>
            <a:ext cx="0" cy="1397000"/>
          </a:xfrm>
          <a:prstGeom prst="straightConnector1">
            <a:avLst/>
          </a:prstGeom>
          <a:ln w="25400">
            <a:solidFill>
              <a:srgbClr val="C0392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24E5D246-F321-8EB4-1D5B-472CF7248756}"/>
              </a:ext>
            </a:extLst>
          </p:cNvPr>
          <p:cNvSpPr txBox="1"/>
          <p:nvPr/>
        </p:nvSpPr>
        <p:spPr>
          <a:xfrm>
            <a:off x="2032000" y="2159000"/>
            <a:ext cx="1905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900" i="1">
                <a:solidFill>
                  <a:srgbClr val="646464"/>
                </a:solidFill>
              </a:rPr>
              <a:t>flujo actual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1ECAA07-505A-2875-1AAC-7EA9466ECA37}"/>
              </a:ext>
            </a:extLst>
          </p:cNvPr>
          <p:cNvSpPr txBox="1"/>
          <p:nvPr/>
        </p:nvSpPr>
        <p:spPr>
          <a:xfrm>
            <a:off x="7366000" y="2095500"/>
            <a:ext cx="254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900" b="1">
                <a:solidFill>
                  <a:srgbClr val="C0392B"/>
                </a:solidFill>
              </a:rPr>
              <a:t>Â¿crear nuevo o reutilizar?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DA2D0B2-A944-2C2E-7B7D-D50DE46E00F7}"/>
              </a:ext>
            </a:extLst>
          </p:cNvPr>
          <p:cNvSpPr/>
          <p:nvPr/>
        </p:nvSpPr>
        <p:spPr>
          <a:xfrm>
            <a:off x="762000" y="5588000"/>
            <a:ext cx="177800" cy="177800"/>
          </a:xfrm>
          <a:prstGeom prst="rect">
            <a:avLst/>
          </a:prstGeom>
          <a:solidFill>
            <a:srgbClr val="FFF9DE"/>
          </a:solidFill>
          <a:ln w="12700">
            <a:solidFill>
              <a:srgbClr val="B79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E3557A4-3690-CD0A-6752-39BF4556E384}"/>
              </a:ext>
            </a:extLst>
          </p:cNvPr>
          <p:cNvSpPr txBox="1"/>
          <p:nvPr/>
        </p:nvSpPr>
        <p:spPr>
          <a:xfrm>
            <a:off x="990600" y="5575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Almacenamiento / BD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3538945-7B64-00A9-E7FC-C4DA34874842}"/>
              </a:ext>
            </a:extLst>
          </p:cNvPr>
          <p:cNvSpPr/>
          <p:nvPr/>
        </p:nvSpPr>
        <p:spPr>
          <a:xfrm>
            <a:off x="762000" y="5842000"/>
            <a:ext cx="177800" cy="177800"/>
          </a:xfrm>
          <a:prstGeom prst="rect">
            <a:avLst/>
          </a:prstGeom>
          <a:solidFill>
            <a:srgbClr val="D4EFDF"/>
          </a:solidFill>
          <a:ln w="127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653657D-5A60-A0F8-9B28-91C1607E5C29}"/>
              </a:ext>
            </a:extLst>
          </p:cNvPr>
          <p:cNvSpPr txBox="1"/>
          <p:nvPr/>
        </p:nvSpPr>
        <p:spPr>
          <a:xfrm>
            <a:off x="990600" y="5829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Portal / salida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E2A946-2F4A-F327-78F3-3841DEAF9062}"/>
              </a:ext>
            </a:extLst>
          </p:cNvPr>
          <p:cNvSpPr/>
          <p:nvPr/>
        </p:nvSpPr>
        <p:spPr>
          <a:xfrm>
            <a:off x="762000" y="6096000"/>
            <a:ext cx="177800" cy="177800"/>
          </a:xfrm>
          <a:prstGeom prst="rect">
            <a:avLst/>
          </a:prstGeom>
          <a:solidFill>
            <a:srgbClr val="FDEBE8"/>
          </a:solidFill>
          <a:ln w="127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FE2B627-7C57-8C0A-1C74-D373F59EF1A4}"/>
              </a:ext>
            </a:extLst>
          </p:cNvPr>
          <p:cNvSpPr txBox="1"/>
          <p:nvPr/>
        </p:nvSpPr>
        <p:spPr>
          <a:xfrm>
            <a:off x="990600" y="6083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Duda / decision pendiente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A7601F8-3D7C-713E-2C8A-132DD8D7583F}"/>
              </a:ext>
            </a:extLst>
          </p:cNvPr>
          <p:cNvSpPr txBox="1"/>
          <p:nvPr/>
        </p:nvSpPr>
        <p:spPr>
          <a:xfrm>
            <a:off x="4191000" y="5651500"/>
            <a:ext cx="787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900" i="1">
                <a:solidFill>
                  <a:srgbClr val="646464"/>
                </a:solidFill>
              </a:rPr>
              <a:t>Duda central: Â¿Se necesita un back-office nuevo de transparencia, o el repositorio de contenido actual que alimenta a Gardena puede servir directamente como fuente de datos para Irekia Berria?</a:t>
            </a:r>
          </a:p>
        </p:txBody>
      </p:sp>
    </p:spTree>
    <p:extLst>
      <p:ext uri="{BB962C8B-B14F-4D97-AF65-F5344CB8AC3E}">
        <p14:creationId xmlns:p14="http://schemas.microsoft.com/office/powerpoint/2010/main" val="3055090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CAE6414-3136-7A61-552A-34D789ADBA1F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0" tIns="127000" rtlCol="0" anchor="ctr"/>
          <a:lstStyle/>
          <a:p>
            <a:r>
              <a:rPr lang="es-ES" sz="2000" b="1">
                <a:solidFill>
                  <a:srgbClr val="FFFFFF"/>
                </a:solidFill>
              </a:rPr>
              <a:t>Diagrama 2 - Participacion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1D0041C-B31F-3806-4D93-2BFE42A13032}"/>
              </a:ext>
            </a:extLst>
          </p:cNvPr>
          <p:cNvSpPr txBox="1"/>
          <p:nvPr/>
        </p:nvSpPr>
        <p:spPr>
          <a:xfrm>
            <a:off x="254000" y="762000"/>
            <a:ext cx="254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1000" b="1">
                <a:solidFill>
                  <a:srgbClr val="646464"/>
                </a:solidFill>
              </a:rPr>
              <a:t>FLUJO ACTUAL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B658E84-A945-BEC0-ED59-E2F3DA66698A}"/>
              </a:ext>
            </a:extLst>
          </p:cNvPr>
          <p:cNvSpPr/>
          <p:nvPr/>
        </p:nvSpPr>
        <p:spPr>
          <a:xfrm>
            <a:off x="381000" y="1143000"/>
            <a:ext cx="2286000" cy="5334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</a:rPr>
              <a:t>Tramitagune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9CBD8CF-FDAD-68DE-E8CF-CBAD6D7CC0F3}"/>
              </a:ext>
            </a:extLst>
          </p:cNvPr>
          <p:cNvSpPr/>
          <p:nvPr/>
        </p:nvSpPr>
        <p:spPr>
          <a:xfrm>
            <a:off x="190500" y="2349500"/>
            <a:ext cx="2667000" cy="698500"/>
          </a:xfrm>
          <a:prstGeom prst="roundRect">
            <a:avLst/>
          </a:prstGeom>
          <a:solidFill>
            <a:srgbClr val="EBDEF0"/>
          </a:solidFill>
          <a:ln w="25400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000">
                <a:solidFill>
                  <a:srgbClr val="000000"/>
                </a:solidFill>
              </a:rPr>
              <a:t>Creacion de iniciativa
legislativa (funcionario)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ECE4A65-D530-6C33-0245-85513D99ED9D}"/>
              </a:ext>
            </a:extLst>
          </p:cNvPr>
          <p:cNvSpPr/>
          <p:nvPr/>
        </p:nvSpPr>
        <p:spPr>
          <a:xfrm>
            <a:off x="381000" y="3937000"/>
            <a:ext cx="2286000" cy="53340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euskadi.eus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CD70628-2100-83CE-0E77-D856D5A6BFA4}"/>
              </a:ext>
            </a:extLst>
          </p:cNvPr>
          <p:cNvCxnSpPr/>
          <p:nvPr/>
        </p:nvCxnSpPr>
        <p:spPr>
          <a:xfrm>
            <a:off x="1524000" y="1676400"/>
            <a:ext cx="0" cy="6731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7712D85-71D3-F7D5-0B54-DE550C2F4C7E}"/>
              </a:ext>
            </a:extLst>
          </p:cNvPr>
          <p:cNvCxnSpPr/>
          <p:nvPr/>
        </p:nvCxnSpPr>
        <p:spPr>
          <a:xfrm>
            <a:off x="1524000" y="3048000"/>
            <a:ext cx="0" cy="8890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0996E32C-B436-5DBA-E9F5-0BE55C876399}"/>
              </a:ext>
            </a:extLst>
          </p:cNvPr>
          <p:cNvSpPr txBox="1"/>
          <p:nvPr/>
        </p:nvSpPr>
        <p:spPr>
          <a:xfrm>
            <a:off x="1651000" y="3302000"/>
            <a:ext cx="889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900" b="1">
                <a:solidFill>
                  <a:srgbClr val="000000"/>
                </a:solidFill>
              </a:rPr>
              <a:t>Publicar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5971E9-DB30-4E15-FAA0-1251E22B2651}"/>
              </a:ext>
            </a:extLst>
          </p:cNvPr>
          <p:cNvSpPr txBox="1"/>
          <p:nvPr/>
        </p:nvSpPr>
        <p:spPr>
          <a:xfrm>
            <a:off x="5715000" y="762000"/>
            <a:ext cx="533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1000" b="1">
                <a:solidFill>
                  <a:srgbClr val="646464"/>
                </a:solidFill>
              </a:rPr>
              <a:t>NUEVO SISTEMA DE PARTICIPACION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4BEEFB1-125B-3591-DAC5-4539C837867F}"/>
              </a:ext>
            </a:extLst>
          </p:cNvPr>
          <p:cNvSpPr/>
          <p:nvPr/>
        </p:nvSpPr>
        <p:spPr>
          <a:xfrm>
            <a:off x="5461000" y="1143000"/>
            <a:ext cx="2540000" cy="698500"/>
          </a:xfrm>
          <a:prstGeom prst="roundRect">
            <a:avLst/>
          </a:prstGeom>
          <a:solidFill>
            <a:srgbClr val="EBDEF0"/>
          </a:solidFill>
          <a:ln w="25400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000">
                <a:solidFill>
                  <a:srgbClr val="000000"/>
                </a:solidFill>
              </a:rPr>
              <a:t>Iniciativa participativa
(funcionario)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3713542-BA9A-7FC2-5FBF-2B0DC8AEC498}"/>
              </a:ext>
            </a:extLst>
          </p:cNvPr>
          <p:cNvSpPr/>
          <p:nvPr/>
        </p:nvSpPr>
        <p:spPr>
          <a:xfrm>
            <a:off x="8636000" y="1143000"/>
            <a:ext cx="2921000" cy="698500"/>
          </a:xfrm>
          <a:prstGeom prst="roundRect">
            <a:avLst/>
          </a:prstGeom>
          <a:solidFill>
            <a:srgbClr val="EBDEF0"/>
          </a:solidFill>
          <a:ln w="25400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000">
                <a:solidFill>
                  <a:srgbClr val="000000"/>
                </a:solidFill>
              </a:rPr>
              <a:t>Participacion voluntaria
(sin requisito legal)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EA5BC56-9A48-A942-65EA-68DDCC01F841}"/>
              </a:ext>
            </a:extLst>
          </p:cNvPr>
          <p:cNvSpPr/>
          <p:nvPr/>
        </p:nvSpPr>
        <p:spPr>
          <a:xfrm>
            <a:off x="5969000" y="2857500"/>
            <a:ext cx="3048000" cy="6985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Sistema de gestion
de Participacion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D097C8C-9E9D-2AA3-5408-C6C847A61CBE}"/>
              </a:ext>
            </a:extLst>
          </p:cNvPr>
          <p:cNvSpPr/>
          <p:nvPr/>
        </p:nvSpPr>
        <p:spPr>
          <a:xfrm>
            <a:off x="5969000" y="4889500"/>
            <a:ext cx="3048000" cy="60960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</a:rPr>
              <a:t>Irekia Berria
(seccion Participacion)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994D64C-7047-3B04-6D1B-877181845C4F}"/>
              </a:ext>
            </a:extLst>
          </p:cNvPr>
          <p:cNvCxnSpPr/>
          <p:nvPr/>
        </p:nvCxnSpPr>
        <p:spPr>
          <a:xfrm>
            <a:off x="6731000" y="1841500"/>
            <a:ext cx="381000" cy="10160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ABB6C1E-AB4D-5880-0D06-64DF223A9AE8}"/>
              </a:ext>
            </a:extLst>
          </p:cNvPr>
          <p:cNvCxnSpPr/>
          <p:nvPr/>
        </p:nvCxnSpPr>
        <p:spPr>
          <a:xfrm flipH="1">
            <a:off x="9144000" y="1841500"/>
            <a:ext cx="952500" cy="10160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F75169D-75F1-1659-E369-E8CF088864B5}"/>
              </a:ext>
            </a:extLst>
          </p:cNvPr>
          <p:cNvCxnSpPr/>
          <p:nvPr/>
        </p:nvCxnSpPr>
        <p:spPr>
          <a:xfrm>
            <a:off x="7493000" y="3556000"/>
            <a:ext cx="0" cy="13335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69DE099-F60D-4AF7-2765-0E9932417E0A}"/>
              </a:ext>
            </a:extLst>
          </p:cNvPr>
          <p:cNvSpPr txBox="1"/>
          <p:nvPr/>
        </p:nvSpPr>
        <p:spPr>
          <a:xfrm>
            <a:off x="7620000" y="4127500"/>
            <a:ext cx="889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900" b="1">
                <a:solidFill>
                  <a:srgbClr val="000000"/>
                </a:solidFill>
              </a:rPr>
              <a:t>Publicar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2C002EC-812F-C5A9-39BA-B3773C11D8CB}"/>
              </a:ext>
            </a:extLst>
          </p:cNvPr>
          <p:cNvCxnSpPr/>
          <p:nvPr/>
        </p:nvCxnSpPr>
        <p:spPr>
          <a:xfrm>
            <a:off x="2857500" y="2667000"/>
            <a:ext cx="3111500" cy="508000"/>
          </a:xfrm>
          <a:prstGeom prst="straightConnector1">
            <a:avLst/>
          </a:prstGeom>
          <a:ln w="25400">
            <a:solidFill>
              <a:srgbClr val="8E44A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FB43F9A-CF5A-0683-7905-815E737CF175}"/>
              </a:ext>
            </a:extLst>
          </p:cNvPr>
          <p:cNvSpPr txBox="1"/>
          <p:nvPr/>
        </p:nvSpPr>
        <p:spPr>
          <a:xfrm>
            <a:off x="3429000" y="24765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800" i="1">
                <a:solidFill>
                  <a:srgbClr val="8E44AD"/>
                </a:solidFill>
              </a:rPr>
              <a:t>rama participativa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E46D7952-EAB8-FD31-51FA-9F4C7460BD82}"/>
              </a:ext>
            </a:extLst>
          </p:cNvPr>
          <p:cNvCxnSpPr/>
          <p:nvPr/>
        </p:nvCxnSpPr>
        <p:spPr>
          <a:xfrm>
            <a:off x="4826000" y="889000"/>
            <a:ext cx="0" cy="4699000"/>
          </a:xfrm>
          <a:prstGeom prst="line">
            <a:avLst/>
          </a:prstGeom>
          <a:ln w="1270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3ED90D2-04B6-EE75-B5F7-8D7AEC5EA544}"/>
              </a:ext>
            </a:extLst>
          </p:cNvPr>
          <p:cNvSpPr/>
          <p:nvPr/>
        </p:nvSpPr>
        <p:spPr>
          <a:xfrm>
            <a:off x="381000" y="5334000"/>
            <a:ext cx="177800" cy="17780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353D0A-6F5A-B2D6-A6EB-6E69EA668398}"/>
              </a:ext>
            </a:extLst>
          </p:cNvPr>
          <p:cNvSpPr txBox="1"/>
          <p:nvPr/>
        </p:nvSpPr>
        <p:spPr>
          <a:xfrm>
            <a:off x="609600" y="5321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Sistemas de gestion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D845D7A-DE94-C0BF-9A3B-9A63258F4AE2}"/>
              </a:ext>
            </a:extLst>
          </p:cNvPr>
          <p:cNvSpPr/>
          <p:nvPr/>
        </p:nvSpPr>
        <p:spPr>
          <a:xfrm>
            <a:off x="381000" y="5588000"/>
            <a:ext cx="177800" cy="177800"/>
          </a:xfrm>
          <a:prstGeom prst="rect">
            <a:avLst/>
          </a:prstGeom>
          <a:solidFill>
            <a:srgbClr val="EBDEF0"/>
          </a:solidFill>
          <a:ln w="12700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891CFD5-AE21-3455-3A40-ED3B7F05404D}"/>
              </a:ext>
            </a:extLst>
          </p:cNvPr>
          <p:cNvSpPr txBox="1"/>
          <p:nvPr/>
        </p:nvSpPr>
        <p:spPr>
          <a:xfrm>
            <a:off x="609600" y="5575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Procesos / entradas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E95B9A7-5A7E-D31F-3955-CA67EB6D2DF1}"/>
              </a:ext>
            </a:extLst>
          </p:cNvPr>
          <p:cNvSpPr/>
          <p:nvPr/>
        </p:nvSpPr>
        <p:spPr>
          <a:xfrm>
            <a:off x="381000" y="5842000"/>
            <a:ext cx="177800" cy="177800"/>
          </a:xfrm>
          <a:prstGeom prst="rect">
            <a:avLst/>
          </a:prstGeom>
          <a:solidFill>
            <a:srgbClr val="D4EFDF"/>
          </a:solidFill>
          <a:ln w="127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7B3B315-69B4-CC57-D2D0-16788426B563}"/>
              </a:ext>
            </a:extLst>
          </p:cNvPr>
          <p:cNvSpPr txBox="1"/>
          <p:nvPr/>
        </p:nvSpPr>
        <p:spPr>
          <a:xfrm>
            <a:off x="609600" y="5829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Portales / salidas</a:t>
            </a:r>
          </a:p>
        </p:txBody>
      </p:sp>
    </p:spTree>
    <p:extLst>
      <p:ext uri="{BB962C8B-B14F-4D97-AF65-F5344CB8AC3E}">
        <p14:creationId xmlns:p14="http://schemas.microsoft.com/office/powerpoint/2010/main" val="48489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E9FEC1C-BA08-3FA0-B73A-27E1416802D1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0" tIns="127000" rtlCol="0" anchor="ctr"/>
          <a:lstStyle/>
          <a:p>
            <a:r>
              <a:rPr lang="es-ES" sz="2000" b="1">
                <a:solidFill>
                  <a:srgbClr val="FFFFFF"/>
                </a:solidFill>
              </a:rPr>
              <a:t>Diagrama 3 - Prensa y Noticias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08EDB4C-9937-35C8-7A61-50EA4CD9DCF0}"/>
              </a:ext>
            </a:extLst>
          </p:cNvPr>
          <p:cNvSpPr/>
          <p:nvPr/>
        </p:nvSpPr>
        <p:spPr>
          <a:xfrm>
            <a:off x="3937000" y="1016000"/>
            <a:ext cx="4318000" cy="6604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400" b="1">
                <a:solidFill>
                  <a:srgbClr val="000000"/>
                </a:solidFill>
              </a:rPr>
              <a:t>Sistema de gestion de Prensa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BE4A8BB-0A6A-4D75-6AD1-AF4C77889152}"/>
              </a:ext>
            </a:extLst>
          </p:cNvPr>
          <p:cNvSpPr/>
          <p:nvPr/>
        </p:nvSpPr>
        <p:spPr>
          <a:xfrm>
            <a:off x="1270000" y="2667000"/>
            <a:ext cx="3302000" cy="609600"/>
          </a:xfrm>
          <a:prstGeom prst="roundRect">
            <a:avLst/>
          </a:prstGeom>
          <a:solidFill>
            <a:srgbClr val="FFF9DE"/>
          </a:solidFill>
          <a:ln w="25400">
            <a:solidFill>
              <a:srgbClr val="B79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>
                <a:solidFill>
                  <a:srgbClr val="000000"/>
                </a:solidFill>
              </a:rPr>
              <a:t>Almacenamiento de contenido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E12B7B6-DB66-638B-6A6E-1CBD48E1D867}"/>
              </a:ext>
            </a:extLst>
          </p:cNvPr>
          <p:cNvSpPr/>
          <p:nvPr/>
        </p:nvSpPr>
        <p:spPr>
          <a:xfrm>
            <a:off x="7620000" y="2667000"/>
            <a:ext cx="3302000" cy="609600"/>
          </a:xfrm>
          <a:prstGeom prst="roundRect">
            <a:avLst/>
          </a:prstGeom>
          <a:solidFill>
            <a:srgbClr val="FFF9DE"/>
          </a:solidFill>
          <a:ln w="25400">
            <a:solidFill>
              <a:srgbClr val="B79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>
                <a:solidFill>
                  <a:srgbClr val="000000"/>
                </a:solidFill>
              </a:rPr>
              <a:t>Almacenamiento de assets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C6B35E6-FE2D-7586-6AB0-99F8C491CCE9}"/>
              </a:ext>
            </a:extLst>
          </p:cNvPr>
          <p:cNvSpPr/>
          <p:nvPr/>
        </p:nvSpPr>
        <p:spPr>
          <a:xfrm>
            <a:off x="1270000" y="3937000"/>
            <a:ext cx="3302000" cy="6096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pt-BR" sz="1100" b="1">
                <a:solidFill>
                  <a:srgbClr val="000000"/>
                </a:solidFill>
              </a:rPr>
              <a:t>CMS actual de euskadi.eus</a:t>
            </a:r>
            <a:endParaRPr lang="es-ES" sz="1100" b="1">
              <a:solidFill>
                <a:srgbClr val="000000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E9E771B-867F-BD8F-971A-A46B6774BC4B}"/>
              </a:ext>
            </a:extLst>
          </p:cNvPr>
          <p:cNvSpPr/>
          <p:nvPr/>
        </p:nvSpPr>
        <p:spPr>
          <a:xfrm>
            <a:off x="7620000" y="3937000"/>
            <a:ext cx="3302000" cy="6096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</a:rPr>
              <a:t>DAM
(Digital Asset Management)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A876262-77EB-1833-18C7-265FB5C9D289}"/>
              </a:ext>
            </a:extLst>
          </p:cNvPr>
          <p:cNvSpPr/>
          <p:nvPr/>
        </p:nvSpPr>
        <p:spPr>
          <a:xfrm>
            <a:off x="508000" y="5461000"/>
            <a:ext cx="2794000" cy="53340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</a:rPr>
              <a:t>Home de euskadi.eus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C20D903-7C75-3EA5-FC4B-B4AEDE54D214}"/>
              </a:ext>
            </a:extLst>
          </p:cNvPr>
          <p:cNvSpPr/>
          <p:nvPr/>
        </p:nvSpPr>
        <p:spPr>
          <a:xfrm>
            <a:off x="3683000" y="5461000"/>
            <a:ext cx="2794000" cy="53340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</a:rPr>
              <a:t>Homes departamentales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A291E39-964D-6801-C9FD-A16F78939B78}"/>
              </a:ext>
            </a:extLst>
          </p:cNvPr>
          <p:cNvSpPr/>
          <p:nvPr/>
        </p:nvSpPr>
        <p:spPr>
          <a:xfrm>
            <a:off x="6858000" y="5461000"/>
            <a:ext cx="2794000" cy="53340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</a:rPr>
              <a:t>RRSS y otros canales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B4B1AC7-9388-1956-E460-74A067382A38}"/>
              </a:ext>
            </a:extLst>
          </p:cNvPr>
          <p:cNvSpPr/>
          <p:nvPr/>
        </p:nvSpPr>
        <p:spPr>
          <a:xfrm>
            <a:off x="10033000" y="5461000"/>
            <a:ext cx="1778000" cy="533400"/>
          </a:xfrm>
          <a:prstGeom prst="roundRect">
            <a:avLst/>
          </a:prstGeom>
          <a:solidFill>
            <a:srgbClr val="FDEBE8"/>
          </a:solidFill>
          <a:ln w="254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000000"/>
                </a:solidFill>
              </a:rPr>
              <a:t>NO publica
en Irekia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8E732BDA-A165-845E-3A83-2A708B9FA01E}"/>
              </a:ext>
            </a:extLst>
          </p:cNvPr>
          <p:cNvCxnSpPr/>
          <p:nvPr/>
        </p:nvCxnSpPr>
        <p:spPr>
          <a:xfrm flipH="1">
            <a:off x="2921000" y="1676400"/>
            <a:ext cx="2159000" cy="9906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BDA9EE8-1E61-B6CC-C783-FCD9C94A0886}"/>
              </a:ext>
            </a:extLst>
          </p:cNvPr>
          <p:cNvCxnSpPr/>
          <p:nvPr/>
        </p:nvCxnSpPr>
        <p:spPr>
          <a:xfrm>
            <a:off x="7112000" y="1676400"/>
            <a:ext cx="2159000" cy="9906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EA4301F-809A-699F-6B2A-C596B7CE630B}"/>
              </a:ext>
            </a:extLst>
          </p:cNvPr>
          <p:cNvCxnSpPr/>
          <p:nvPr/>
        </p:nvCxnSpPr>
        <p:spPr>
          <a:xfrm>
            <a:off x="2921000" y="3276600"/>
            <a:ext cx="0" cy="6604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4B9CF27-860B-DFB6-F22D-030134EA9013}"/>
              </a:ext>
            </a:extLst>
          </p:cNvPr>
          <p:cNvCxnSpPr/>
          <p:nvPr/>
        </p:nvCxnSpPr>
        <p:spPr>
          <a:xfrm>
            <a:off x="9271000" y="3276600"/>
            <a:ext cx="0" cy="6604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A0C2D24-B11D-1D65-810F-5DF610B76266}"/>
              </a:ext>
            </a:extLst>
          </p:cNvPr>
          <p:cNvCxnSpPr/>
          <p:nvPr/>
        </p:nvCxnSpPr>
        <p:spPr>
          <a:xfrm>
            <a:off x="4572000" y="4241800"/>
            <a:ext cx="3048000" cy="0"/>
          </a:xfrm>
          <a:prstGeom prst="straightConnector1">
            <a:avLst/>
          </a:prstGeom>
          <a:ln w="38100">
            <a:solidFill>
              <a:srgbClr val="646464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EFD5FD4-236F-48D3-1553-99B4AB48C93E}"/>
              </a:ext>
            </a:extLst>
          </p:cNvPr>
          <p:cNvSpPr txBox="1"/>
          <p:nvPr/>
        </p:nvSpPr>
        <p:spPr>
          <a:xfrm>
            <a:off x="5334000" y="4292600"/>
            <a:ext cx="1524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900" i="1">
                <a:solidFill>
                  <a:srgbClr val="646464"/>
                </a:solidFill>
              </a:rPr>
              <a:t>vinculados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271C244-BDA6-3074-3E61-F7AAA6CCCD65}"/>
              </a:ext>
            </a:extLst>
          </p:cNvPr>
          <p:cNvCxnSpPr/>
          <p:nvPr/>
        </p:nvCxnSpPr>
        <p:spPr>
          <a:xfrm flipH="1">
            <a:off x="1905000" y="4546600"/>
            <a:ext cx="1016000" cy="9144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B0375D9-E686-3CF0-7AAD-6A2EEDCB4E74}"/>
              </a:ext>
            </a:extLst>
          </p:cNvPr>
          <p:cNvCxnSpPr/>
          <p:nvPr/>
        </p:nvCxnSpPr>
        <p:spPr>
          <a:xfrm>
            <a:off x="5080000" y="4546600"/>
            <a:ext cx="0" cy="9144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8B03F4C-D796-7EC3-B496-0412EE3E90BC}"/>
              </a:ext>
            </a:extLst>
          </p:cNvPr>
          <p:cNvCxnSpPr/>
          <p:nvPr/>
        </p:nvCxnSpPr>
        <p:spPr>
          <a:xfrm>
            <a:off x="8001000" y="4546600"/>
            <a:ext cx="254000" cy="9144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50D8B55-9B76-4C00-AA70-84DF0AF2F5D8}"/>
              </a:ext>
            </a:extLst>
          </p:cNvPr>
          <p:cNvSpPr txBox="1"/>
          <p:nvPr/>
        </p:nvSpPr>
        <p:spPr>
          <a:xfrm>
            <a:off x="4318000" y="4889500"/>
            <a:ext cx="152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s-ES" sz="1000" b="1">
                <a:solidFill>
                  <a:srgbClr val="000000"/>
                </a:solidFill>
              </a:rPr>
              <a:t>Publicar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0AB8FC7-5AAD-0362-11BE-A531A4204B39}"/>
              </a:ext>
            </a:extLst>
          </p:cNvPr>
          <p:cNvSpPr/>
          <p:nvPr/>
        </p:nvSpPr>
        <p:spPr>
          <a:xfrm>
            <a:off x="508000" y="6248400"/>
            <a:ext cx="177800" cy="17780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1BBAD9-5B99-FC5C-E877-2AF921CAE3DD}"/>
              </a:ext>
            </a:extLst>
          </p:cNvPr>
          <p:cNvSpPr txBox="1"/>
          <p:nvPr/>
        </p:nvSpPr>
        <p:spPr>
          <a:xfrm>
            <a:off x="736600" y="62357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Sistemas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48F66B9-3394-5B0C-8E9B-0EA7F3393712}"/>
              </a:ext>
            </a:extLst>
          </p:cNvPr>
          <p:cNvSpPr/>
          <p:nvPr/>
        </p:nvSpPr>
        <p:spPr>
          <a:xfrm>
            <a:off x="2794000" y="6248400"/>
            <a:ext cx="177800" cy="177800"/>
          </a:xfrm>
          <a:prstGeom prst="rect">
            <a:avLst/>
          </a:prstGeom>
          <a:solidFill>
            <a:srgbClr val="FFF9DE"/>
          </a:solidFill>
          <a:ln w="12700">
            <a:solidFill>
              <a:srgbClr val="B79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BE7BC7E-7BCF-455C-3CF1-FC9CE7475DB7}"/>
              </a:ext>
            </a:extLst>
          </p:cNvPr>
          <p:cNvSpPr txBox="1"/>
          <p:nvPr/>
        </p:nvSpPr>
        <p:spPr>
          <a:xfrm>
            <a:off x="3022600" y="62357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Almacenamiento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D0861A1-025C-34AC-384D-03C9243BD659}"/>
              </a:ext>
            </a:extLst>
          </p:cNvPr>
          <p:cNvSpPr/>
          <p:nvPr/>
        </p:nvSpPr>
        <p:spPr>
          <a:xfrm>
            <a:off x="5080000" y="6248400"/>
            <a:ext cx="177800" cy="177800"/>
          </a:xfrm>
          <a:prstGeom prst="rect">
            <a:avLst/>
          </a:prstGeom>
          <a:solidFill>
            <a:srgbClr val="D4EFDF"/>
          </a:solidFill>
          <a:ln w="127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0211EEB-6E3D-403C-14C9-8C7B36153171}"/>
              </a:ext>
            </a:extLst>
          </p:cNvPr>
          <p:cNvSpPr txBox="1"/>
          <p:nvPr/>
        </p:nvSpPr>
        <p:spPr>
          <a:xfrm>
            <a:off x="5308600" y="62357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Salidas</a:t>
            </a:r>
          </a:p>
        </p:txBody>
      </p:sp>
    </p:spTree>
    <p:extLst>
      <p:ext uri="{BB962C8B-B14F-4D97-AF65-F5344CB8AC3E}">
        <p14:creationId xmlns:p14="http://schemas.microsoft.com/office/powerpoint/2010/main" val="1541531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3EA6423-C46A-F501-0367-EA8F4D6214EB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0" tIns="127000" rtlCol="0" anchor="ctr"/>
          <a:lstStyle/>
          <a:p>
            <a:r>
              <a:rPr lang="es-ES" sz="2000" b="1">
                <a:solidFill>
                  <a:srgbClr val="FFFFFF"/>
                </a:solidFill>
              </a:rPr>
              <a:t>Diagrama 4 - Diaspora (Sedes vascas en el extranjero)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C340989-E80D-0883-3B87-954DB96D82EF}"/>
              </a:ext>
            </a:extLst>
          </p:cNvPr>
          <p:cNvSpPr/>
          <p:nvPr/>
        </p:nvSpPr>
        <p:spPr>
          <a:xfrm>
            <a:off x="3937000" y="1270000"/>
            <a:ext cx="4318000" cy="6985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400" b="1">
                <a:solidFill>
                  <a:srgbClr val="000000"/>
                </a:solidFill>
              </a:rPr>
              <a:t>Sistema de gestion
de Diaspora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C732D62-EDC8-88AA-1FEA-F8696A15625A}"/>
              </a:ext>
            </a:extLst>
          </p:cNvPr>
          <p:cNvSpPr/>
          <p:nvPr/>
        </p:nvSpPr>
        <p:spPr>
          <a:xfrm>
            <a:off x="3175000" y="3048000"/>
            <a:ext cx="5842000" cy="698500"/>
          </a:xfrm>
          <a:prstGeom prst="roundRect">
            <a:avLst/>
          </a:prstGeom>
          <a:solidFill>
            <a:srgbClr val="EBDEF0"/>
          </a:solidFill>
          <a:ln w="25400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200">
                <a:solidFill>
                  <a:srgbClr val="000000"/>
                </a:solidFill>
              </a:rPr>
              <a:t>Estructura de plantilla de portales
+ publicacion de contenidos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7E298DB-E2A9-12A4-083D-E9002716BF1F}"/>
              </a:ext>
            </a:extLst>
          </p:cNvPr>
          <p:cNvSpPr/>
          <p:nvPr/>
        </p:nvSpPr>
        <p:spPr>
          <a:xfrm>
            <a:off x="3302000" y="4953000"/>
            <a:ext cx="5588000" cy="69850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1300" b="1">
                <a:solidFill>
                  <a:srgbClr val="000000"/>
                </a:solidFill>
              </a:rPr>
              <a:t>Portales de sedes vascas
en el extranjero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C2637988-278E-C962-C8A0-EB0D58926201}"/>
              </a:ext>
            </a:extLst>
          </p:cNvPr>
          <p:cNvCxnSpPr/>
          <p:nvPr/>
        </p:nvCxnSpPr>
        <p:spPr>
          <a:xfrm>
            <a:off x="6096000" y="1968500"/>
            <a:ext cx="0" cy="10795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D9346A7-BBE1-84C5-A34A-CE45638265B1}"/>
              </a:ext>
            </a:extLst>
          </p:cNvPr>
          <p:cNvCxnSpPr/>
          <p:nvPr/>
        </p:nvCxnSpPr>
        <p:spPr>
          <a:xfrm>
            <a:off x="6096000" y="3746500"/>
            <a:ext cx="0" cy="1206500"/>
          </a:xfrm>
          <a:prstGeom prst="straightConnector1">
            <a:avLst/>
          </a:prstGeom>
          <a:ln w="25400">
            <a:solidFill>
              <a:srgbClr val="6464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31EACFA-B9EC-89C2-151A-B54AD7EE165B}"/>
              </a:ext>
            </a:extLst>
          </p:cNvPr>
          <p:cNvSpPr/>
          <p:nvPr/>
        </p:nvSpPr>
        <p:spPr>
          <a:xfrm>
            <a:off x="762000" y="3683000"/>
            <a:ext cx="2032000" cy="825500"/>
          </a:xfrm>
          <a:prstGeom prst="roundRect">
            <a:avLst/>
          </a:prstGeom>
          <a:solidFill>
            <a:srgbClr val="FDEBE8"/>
          </a:solidFill>
          <a:ln w="25400">
            <a:solidFill>
              <a:srgbClr val="C0392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>
            <a:noAutofit/>
          </a:bodyPr>
          <a:lstStyle/>
          <a:p>
            <a:pPr algn="ctr"/>
            <a:r>
              <a:rPr lang="es-ES" sz="900">
                <a:solidFill>
                  <a:srgbClr val="000000"/>
                </a:solidFill>
              </a:rPr>
              <a:t>Problematica:
Usuarios sin BAK
ni certificado digital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8CAD65E-1877-F6B2-4209-9CF3F7D1ED82}"/>
              </a:ext>
            </a:extLst>
          </p:cNvPr>
          <p:cNvCxnSpPr/>
          <p:nvPr/>
        </p:nvCxnSpPr>
        <p:spPr>
          <a:xfrm flipV="1">
            <a:off x="2794000" y="3556000"/>
            <a:ext cx="1143000" cy="508000"/>
          </a:xfrm>
          <a:prstGeom prst="straightConnector1">
            <a:avLst/>
          </a:prstGeom>
          <a:ln w="25400">
            <a:solidFill>
              <a:srgbClr val="C0392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B353D0-9C6A-A2C5-331E-08D8332628EE}"/>
              </a:ext>
            </a:extLst>
          </p:cNvPr>
          <p:cNvSpPr/>
          <p:nvPr/>
        </p:nvSpPr>
        <p:spPr>
          <a:xfrm>
            <a:off x="762000" y="5588000"/>
            <a:ext cx="177800" cy="17780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70FAE7A-4D74-DD68-B839-6FF50ECA84B1}"/>
              </a:ext>
            </a:extLst>
          </p:cNvPr>
          <p:cNvSpPr txBox="1"/>
          <p:nvPr/>
        </p:nvSpPr>
        <p:spPr>
          <a:xfrm>
            <a:off x="990600" y="5575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Sistemas de gestion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61F32A2-EC1A-3F74-8F50-70D89FC6B5F0}"/>
              </a:ext>
            </a:extLst>
          </p:cNvPr>
          <p:cNvSpPr/>
          <p:nvPr/>
        </p:nvSpPr>
        <p:spPr>
          <a:xfrm>
            <a:off x="762000" y="5842000"/>
            <a:ext cx="177800" cy="177800"/>
          </a:xfrm>
          <a:prstGeom prst="rect">
            <a:avLst/>
          </a:prstGeom>
          <a:solidFill>
            <a:srgbClr val="EBDEF0"/>
          </a:solidFill>
          <a:ln w="12700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DF2BDCD-4987-D439-375A-E537E532B1EA}"/>
              </a:ext>
            </a:extLst>
          </p:cNvPr>
          <p:cNvSpPr txBox="1"/>
          <p:nvPr/>
        </p:nvSpPr>
        <p:spPr>
          <a:xfrm>
            <a:off x="990600" y="5829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Procesos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16E6448-E572-3105-8797-E3F5B7F3F3A6}"/>
              </a:ext>
            </a:extLst>
          </p:cNvPr>
          <p:cNvSpPr/>
          <p:nvPr/>
        </p:nvSpPr>
        <p:spPr>
          <a:xfrm>
            <a:off x="762000" y="6096000"/>
            <a:ext cx="177800" cy="177800"/>
          </a:xfrm>
          <a:prstGeom prst="rect">
            <a:avLst/>
          </a:prstGeom>
          <a:solidFill>
            <a:srgbClr val="D4EFDF"/>
          </a:solidFill>
          <a:ln w="127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9245AD-38AC-A68E-378C-EB5FCE0FD61C}"/>
              </a:ext>
            </a:extLst>
          </p:cNvPr>
          <p:cNvSpPr txBox="1"/>
          <p:nvPr/>
        </p:nvSpPr>
        <p:spPr>
          <a:xfrm>
            <a:off x="990600" y="6083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Portales / salidas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68349F6-A0C2-1009-15ED-83F4370138BE}"/>
              </a:ext>
            </a:extLst>
          </p:cNvPr>
          <p:cNvSpPr/>
          <p:nvPr/>
        </p:nvSpPr>
        <p:spPr>
          <a:xfrm>
            <a:off x="762000" y="6350000"/>
            <a:ext cx="177800" cy="177800"/>
          </a:xfrm>
          <a:prstGeom prst="rect">
            <a:avLst/>
          </a:prstGeom>
          <a:solidFill>
            <a:srgbClr val="FDEBE8"/>
          </a:solidFill>
          <a:ln w="1270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D8D9D69-A51C-587D-2773-26EE6A7DB0ED}"/>
              </a:ext>
            </a:extLst>
          </p:cNvPr>
          <p:cNvSpPr txBox="1"/>
          <p:nvPr/>
        </p:nvSpPr>
        <p:spPr>
          <a:xfrm>
            <a:off x="990600" y="6337300"/>
            <a:ext cx="203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800">
                <a:solidFill>
                  <a:srgbClr val="000000"/>
                </a:solidFill>
              </a:rPr>
              <a:t>Dudas / pendiente</a:t>
            </a:r>
          </a:p>
        </p:txBody>
      </p:sp>
    </p:spTree>
    <p:extLst>
      <p:ext uri="{BB962C8B-B14F-4D97-AF65-F5344CB8AC3E}">
        <p14:creationId xmlns:p14="http://schemas.microsoft.com/office/powerpoint/2010/main" val="952877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Panorámica</PresentationFormat>
  <Paragraphs>55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Alvarez Diaz</dc:creator>
  <cp:lastModifiedBy>Claudia Alvarez Diaz</cp:lastModifiedBy>
  <cp:revision>1</cp:revision>
  <dcterms:created xsi:type="dcterms:W3CDTF">2026-03-12T08:25:58Z</dcterms:created>
  <dcterms:modified xsi:type="dcterms:W3CDTF">2026-03-12T08:25:58Z</dcterms:modified>
</cp:coreProperties>
</file>